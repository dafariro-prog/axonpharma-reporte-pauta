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Plus Jakarta Sans ExtraBold"/>
      <p:bold r:id="rId14"/>
      <p:boldItalic r:id="rId15"/>
    </p:embeddedFont>
    <p:embeddedFont>
      <p:font typeface="Plus Jakarta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usJakartaSansExtraBold-boldItalic.fntdata"/><Relationship Id="rId14" Type="http://schemas.openxmlformats.org/officeDocument/2006/relationships/font" Target="fonts/PlusJakartaSansExtraBold-bold.fntdata"/><Relationship Id="rId17" Type="http://schemas.openxmlformats.org/officeDocument/2006/relationships/font" Target="fonts/PlusJakartaSans-bold.fntdata"/><Relationship Id="rId16" Type="http://schemas.openxmlformats.org/officeDocument/2006/relationships/font" Target="fonts/PlusJakarta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lusJakartaSans-boldItalic.fntdata"/><Relationship Id="rId6" Type="http://schemas.openxmlformats.org/officeDocument/2006/relationships/slide" Target="slides/slide1.xml"/><Relationship Id="rId18" Type="http://schemas.openxmlformats.org/officeDocument/2006/relationships/font" Target="fonts/PlusJakarta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1f9a6662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f1f9a6662c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1f9a6662c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f1f9a6662c_0_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1f9a6662c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f1f9a6662c_0_1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1f9a6662c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f1f9a6662c_0_1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1f9a6662c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f1f9a6662c_0_1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3d5b7e2e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f3d5b7e2ea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13.png"/><Relationship Id="rId7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41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601" y="6042500"/>
            <a:ext cx="7620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23601" y="2829375"/>
            <a:ext cx="4991400" cy="22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REPORTE FINAL </a:t>
            </a:r>
            <a:br>
              <a:rPr lang="en-US" sz="450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</a:br>
            <a:r>
              <a:rPr lang="en-US" sz="450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FLORATIL </a:t>
            </a:r>
            <a:endParaRPr sz="4500">
              <a:solidFill>
                <a:srgbClr val="FFFFFF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JULIO 2026</a:t>
            </a:r>
            <a:endParaRPr/>
          </a:p>
        </p:txBody>
      </p:sp>
      <p:pic>
        <p:nvPicPr>
          <p:cNvPr descr="image.png" id="86" name="Google Shape;8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3061617" y="5922066"/>
            <a:ext cx="2638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1">
                <a:solidFill>
                  <a:srgbClr val="A855F7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ALMENDRA MARKETING</a:t>
            </a:r>
            <a:endParaRPr sz="332">
              <a:solidFill>
                <a:srgbClr val="A855F7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/>
        </p:nvSpPr>
        <p:spPr>
          <a:xfrm>
            <a:off x="974900" y="1737700"/>
            <a:ext cx="6204600" cy="34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Cliente: AXON PHARMA</a:t>
            </a:r>
            <a:endParaRPr sz="2000">
              <a:solidFill>
                <a:srgbClr val="3C40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Campaña: Floratil</a:t>
            </a:r>
            <a:br>
              <a:rPr lang="en-US" sz="20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lang="en-US" sz="20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Periodo: 01 Jul - 31 Jul</a:t>
            </a:r>
            <a:endParaRPr sz="2000">
              <a:solidFill>
                <a:srgbClr val="3C40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Objetivo principal: Maximizar la visibilidad de la marca en Colombia, y divulgar los beneficios específicos del producto.</a:t>
            </a:r>
            <a:endParaRPr sz="2000">
              <a:solidFill>
                <a:srgbClr val="3C40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000">
              <a:solidFill>
                <a:srgbClr val="3C40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000">
              <a:solidFill>
                <a:srgbClr val="3C40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000">
              <a:solidFill>
                <a:srgbClr val="3C40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rgbClr val="A855F7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Impresiones Contratadas: 1,035,000</a:t>
            </a:r>
            <a:endParaRPr sz="2000">
              <a:solidFill>
                <a:srgbClr val="A855F7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974912" y="773206"/>
            <a:ext cx="1095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3C4043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REPORTE MENSUAL DE BRANDING: YOUTUBE ADS</a:t>
            </a:r>
            <a:endParaRPr sz="3000">
              <a:solidFill>
                <a:srgbClr val="3C4043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736787" y="710173"/>
            <a:ext cx="76200" cy="6096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8396000" y="4941900"/>
            <a:ext cx="1059000" cy="857100"/>
          </a:xfrm>
          <a:prstGeom prst="roundRect">
            <a:avLst>
              <a:gd fmla="val 16667" name="adj"/>
            </a:avLst>
          </a:prstGeom>
          <a:solidFill>
            <a:srgbClr val="81E9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9202841" y="4525788"/>
            <a:ext cx="2155800" cy="1601100"/>
          </a:xfrm>
          <a:prstGeom prst="roundRect">
            <a:avLst>
              <a:gd fmla="val 16667" name="adj"/>
            </a:avLst>
          </a:prstGeom>
          <a:solidFill>
            <a:srgbClr val="2811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35249" y="3517198"/>
            <a:ext cx="2495833" cy="160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/>
          <p:nvPr/>
        </p:nvSpPr>
        <p:spPr>
          <a:xfrm>
            <a:off x="844643" y="2155730"/>
            <a:ext cx="3025500" cy="1311000"/>
          </a:xfrm>
          <a:prstGeom prst="roundRect">
            <a:avLst>
              <a:gd fmla="val 16667" name="adj"/>
            </a:avLst>
          </a:prstGeom>
          <a:solidFill>
            <a:srgbClr val="F9FAFC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  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974912" y="773206"/>
            <a:ext cx="1095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3C4043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RESULTADOS OVERVIEW</a:t>
            </a:r>
            <a:endParaRPr sz="3000">
              <a:solidFill>
                <a:srgbClr val="3C4043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736787" y="710173"/>
            <a:ext cx="76200" cy="6096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948216" y="2272124"/>
            <a:ext cx="281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INVERSIÓN</a:t>
            </a:r>
            <a:endParaRPr sz="100"/>
          </a:p>
        </p:txBody>
      </p:sp>
      <p:sp>
        <p:nvSpPr>
          <p:cNvPr id="106" name="Google Shape;106;p15"/>
          <p:cNvSpPr txBox="1"/>
          <p:nvPr/>
        </p:nvSpPr>
        <p:spPr>
          <a:xfrm>
            <a:off x="1065693" y="2694949"/>
            <a:ext cx="267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A855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$17,760,600</a:t>
            </a:r>
            <a:endParaRPr b="1" sz="2000">
              <a:solidFill>
                <a:srgbClr val="A855F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3400" y="891121"/>
            <a:ext cx="696950" cy="69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/>
          <p:nvPr/>
        </p:nvSpPr>
        <p:spPr>
          <a:xfrm>
            <a:off x="4537143" y="2193348"/>
            <a:ext cx="3025500" cy="1311000"/>
          </a:xfrm>
          <a:prstGeom prst="roundRect">
            <a:avLst>
              <a:gd fmla="val 16667" name="adj"/>
            </a:avLst>
          </a:prstGeom>
          <a:solidFill>
            <a:srgbClr val="F9FAFC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  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4640716" y="2309742"/>
            <a:ext cx="281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IMPRESIONES</a:t>
            </a:r>
            <a:endParaRPr sz="100"/>
          </a:p>
        </p:txBody>
      </p:sp>
      <p:sp>
        <p:nvSpPr>
          <p:cNvPr id="110" name="Google Shape;110;p15"/>
          <p:cNvSpPr txBox="1"/>
          <p:nvPr/>
        </p:nvSpPr>
        <p:spPr>
          <a:xfrm>
            <a:off x="4758193" y="2732567"/>
            <a:ext cx="267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A855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1,037,230</a:t>
            </a:r>
            <a:endParaRPr b="1" sz="2000">
              <a:solidFill>
                <a:srgbClr val="A855F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8254856" y="2171051"/>
            <a:ext cx="3025500" cy="1311000"/>
          </a:xfrm>
          <a:prstGeom prst="roundRect">
            <a:avLst>
              <a:gd fmla="val 16667" name="adj"/>
            </a:avLst>
          </a:prstGeom>
          <a:solidFill>
            <a:srgbClr val="F9FAFC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  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8358429" y="2287445"/>
            <a:ext cx="281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INTERACCIONES</a:t>
            </a:r>
            <a:endParaRPr sz="100"/>
          </a:p>
        </p:txBody>
      </p:sp>
      <p:sp>
        <p:nvSpPr>
          <p:cNvPr id="113" name="Google Shape;113;p15"/>
          <p:cNvSpPr txBox="1"/>
          <p:nvPr/>
        </p:nvSpPr>
        <p:spPr>
          <a:xfrm>
            <a:off x="8475906" y="2710270"/>
            <a:ext cx="267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A855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28,040</a:t>
            </a:r>
            <a:endParaRPr b="1" sz="2000">
              <a:solidFill>
                <a:srgbClr val="A855F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880143" y="4211730"/>
            <a:ext cx="3025500" cy="1311000"/>
          </a:xfrm>
          <a:prstGeom prst="roundRect">
            <a:avLst>
              <a:gd fmla="val 16667" name="adj"/>
            </a:avLst>
          </a:prstGeom>
          <a:solidFill>
            <a:srgbClr val="F9FAFC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  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983716" y="4328124"/>
            <a:ext cx="281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CTR</a:t>
            </a:r>
            <a:endParaRPr sz="100"/>
          </a:p>
        </p:txBody>
      </p:sp>
      <p:sp>
        <p:nvSpPr>
          <p:cNvPr id="116" name="Google Shape;116;p15"/>
          <p:cNvSpPr txBox="1"/>
          <p:nvPr/>
        </p:nvSpPr>
        <p:spPr>
          <a:xfrm>
            <a:off x="1101193" y="4750949"/>
            <a:ext cx="267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A855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2,70%</a:t>
            </a:r>
            <a:endParaRPr b="1" sz="2000">
              <a:solidFill>
                <a:srgbClr val="A855F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4572643" y="4249348"/>
            <a:ext cx="3025500" cy="1311000"/>
          </a:xfrm>
          <a:prstGeom prst="roundRect">
            <a:avLst>
              <a:gd fmla="val 16667" name="adj"/>
            </a:avLst>
          </a:prstGeom>
          <a:solidFill>
            <a:srgbClr val="F9FAFC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  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4676216" y="4365742"/>
            <a:ext cx="281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IMPR. VISIBLES</a:t>
            </a:r>
            <a:endParaRPr sz="100"/>
          </a:p>
        </p:txBody>
      </p:sp>
      <p:sp>
        <p:nvSpPr>
          <p:cNvPr id="119" name="Google Shape;119;p15"/>
          <p:cNvSpPr txBox="1"/>
          <p:nvPr/>
        </p:nvSpPr>
        <p:spPr>
          <a:xfrm>
            <a:off x="4793693" y="4788567"/>
            <a:ext cx="267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A855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975,620</a:t>
            </a:r>
            <a:endParaRPr b="1" sz="2000">
              <a:solidFill>
                <a:srgbClr val="A855F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8290356" y="4227051"/>
            <a:ext cx="3025500" cy="1311000"/>
          </a:xfrm>
          <a:prstGeom prst="roundRect">
            <a:avLst>
              <a:gd fmla="val 16667" name="adj"/>
            </a:avLst>
          </a:prstGeom>
          <a:solidFill>
            <a:srgbClr val="F9FAFC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  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8393929" y="4343445"/>
            <a:ext cx="281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% ENTREGA</a:t>
            </a:r>
            <a:endParaRPr sz="100"/>
          </a:p>
        </p:txBody>
      </p:sp>
      <p:sp>
        <p:nvSpPr>
          <p:cNvPr id="122" name="Google Shape;122;p15"/>
          <p:cNvSpPr txBox="1"/>
          <p:nvPr/>
        </p:nvSpPr>
        <p:spPr>
          <a:xfrm>
            <a:off x="8511406" y="4766270"/>
            <a:ext cx="267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A855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100,21%</a:t>
            </a:r>
            <a:endParaRPr b="1" sz="2000">
              <a:solidFill>
                <a:srgbClr val="A855F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/>
          <p:nvPr/>
        </p:nvSpPr>
        <p:spPr>
          <a:xfrm>
            <a:off x="974912" y="773206"/>
            <a:ext cx="1095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3C4043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DETALLE</a:t>
            </a:r>
            <a:endParaRPr sz="3000">
              <a:solidFill>
                <a:srgbClr val="3C4043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736787" y="710173"/>
            <a:ext cx="76200" cy="6096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9" name="Google Shape;1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3400" y="891121"/>
            <a:ext cx="696950" cy="69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899277" y="1633725"/>
            <a:ext cx="3050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A855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Resultados </a:t>
            </a:r>
            <a:r>
              <a:rPr b="1" lang="en-US" sz="1600">
                <a:solidFill>
                  <a:srgbClr val="A855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por dispositivo</a:t>
            </a:r>
            <a:endParaRPr sz="1200">
              <a:solidFill>
                <a:srgbClr val="A855F7"/>
              </a:solidFill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5161194" y="1619125"/>
            <a:ext cx="3896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A855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Resultados por </a:t>
            </a:r>
            <a:r>
              <a:rPr b="1" lang="en-US" sz="1600">
                <a:solidFill>
                  <a:srgbClr val="A855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género</a:t>
            </a:r>
            <a:r>
              <a:rPr b="1" lang="en-US" sz="1600">
                <a:solidFill>
                  <a:srgbClr val="A855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y edad</a:t>
            </a:r>
            <a:endParaRPr sz="1200">
              <a:solidFill>
                <a:srgbClr val="A855F7"/>
              </a:solidFill>
            </a:endParaRPr>
          </a:p>
        </p:txBody>
      </p:sp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538" y="3503191"/>
            <a:ext cx="3238500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1113575" y="1990050"/>
            <a:ext cx="3141900" cy="7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Para esta campaña se omitió el formato de TV porque ofrece el menor CTR:</a:t>
            </a:r>
            <a:endParaRPr>
              <a:solidFill>
                <a:srgbClr val="3C40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35665" y="2862507"/>
            <a:ext cx="2129570" cy="69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5414450" y="1989375"/>
            <a:ext cx="5546100" cy="11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 la </a:t>
            </a:r>
            <a:r>
              <a:rPr lang="en-US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anterior</a:t>
            </a:r>
            <a:r>
              <a:rPr lang="en-US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entrega se </a:t>
            </a:r>
            <a:r>
              <a:rPr lang="en-US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identificó </a:t>
            </a:r>
            <a:r>
              <a:rPr lang="en-US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mayor </a:t>
            </a:r>
            <a:r>
              <a:rPr lang="en-US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interés en Floratil</a:t>
            </a:r>
            <a:r>
              <a:rPr lang="en-US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por parte de  la audiencia femenina. Para el mes de Julio se segmento a </a:t>
            </a:r>
            <a:r>
              <a:rPr lang="en-US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exclusivamente</a:t>
            </a:r>
            <a:r>
              <a:rPr lang="en-US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mujeres, buscando un mejor performance de la pauta.</a:t>
            </a:r>
            <a:endParaRPr>
              <a:solidFill>
                <a:srgbClr val="3C40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36" name="Google Shape;136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07480" y="3429000"/>
            <a:ext cx="6326625" cy="295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209938" y="4225007"/>
            <a:ext cx="685800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"/>
          <p:cNvSpPr txBox="1"/>
          <p:nvPr/>
        </p:nvSpPr>
        <p:spPr>
          <a:xfrm>
            <a:off x="974912" y="773206"/>
            <a:ext cx="1095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3C4043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PERFORMANCE  CREATIVO</a:t>
            </a:r>
            <a:endParaRPr sz="3000">
              <a:solidFill>
                <a:srgbClr val="3C4043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736787" y="710173"/>
            <a:ext cx="76200" cy="6096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17"/>
          <p:cNvPicPr preferRelativeResize="0"/>
          <p:nvPr/>
        </p:nvPicPr>
        <p:blipFill rotWithShape="1">
          <a:blip r:embed="rId3">
            <a:alphaModFix/>
          </a:blip>
          <a:srcRect b="7049" l="0" r="0" t="4510"/>
          <a:stretch/>
        </p:blipFill>
        <p:spPr>
          <a:xfrm>
            <a:off x="6749950" y="459250"/>
            <a:ext cx="5138724" cy="62609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83400" y="891121"/>
            <a:ext cx="696950" cy="69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0901" y="1704424"/>
            <a:ext cx="5298285" cy="299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1637950" y="5112875"/>
            <a:ext cx="3276000" cy="9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</a:t>
            </a:r>
            <a:r>
              <a:rPr lang="en-US">
                <a:solidFill>
                  <a:srgbClr val="A855F7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Bumper  # 3</a:t>
            </a:r>
            <a:r>
              <a:rPr lang="en-US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fue el anuncio con mayor entrega de impresiones, con una participación del  </a:t>
            </a:r>
            <a:r>
              <a:rPr lang="en-US">
                <a:solidFill>
                  <a:srgbClr val="A855F7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56.2%</a:t>
            </a:r>
            <a:r>
              <a:rPr lang="en-US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sobre el total de la campaña.</a:t>
            </a:r>
            <a:endParaRPr sz="2000">
              <a:solidFill>
                <a:srgbClr val="C084FC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"/>
          <p:cNvSpPr txBox="1"/>
          <p:nvPr/>
        </p:nvSpPr>
        <p:spPr>
          <a:xfrm>
            <a:off x="974912" y="773206"/>
            <a:ext cx="1095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3C4043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INSIGHTS</a:t>
            </a:r>
            <a:endParaRPr sz="3000">
              <a:solidFill>
                <a:srgbClr val="3C4043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736787" y="710173"/>
            <a:ext cx="76200" cy="6096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 txBox="1"/>
          <p:nvPr/>
        </p:nvSpPr>
        <p:spPr>
          <a:xfrm>
            <a:off x="812975" y="1727100"/>
            <a:ext cx="99783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500"/>
              <a:buFont typeface="Plus Jakarta Sans"/>
              <a:buChar char="●"/>
            </a:pPr>
            <a:r>
              <a:rPr b="1" lang="en-US" sz="15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Dominio Absoluto de Formatos Cortos (Bumpers 6s)</a:t>
            </a:r>
            <a:r>
              <a:rPr lang="en-US" sz="15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 Los tres anuncios formato Bumper acumularon más del </a:t>
            </a:r>
            <a:r>
              <a:rPr b="1" lang="en-US" sz="1500">
                <a:solidFill>
                  <a:srgbClr val="A855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98%</a:t>
            </a:r>
            <a:r>
              <a:rPr lang="en-US" sz="15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del total de las impresiones entregadas. El mensaje rápido, directo y enfocado en una solución inmediata funciona significativamente mejor para mantener la retención en productos de cuidado estomacal / familiar.  </a:t>
            </a:r>
            <a:endParaRPr sz="1500">
              <a:solidFill>
                <a:srgbClr val="3C40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C40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500"/>
              <a:buFont typeface="Plus Jakarta Sans"/>
              <a:buChar char="●"/>
            </a:pPr>
            <a:r>
              <a:rPr b="1" lang="en-US" sz="15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Efectividad de la Segmentación Femenina:</a:t>
            </a:r>
            <a:r>
              <a:rPr lang="en-US" sz="15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Enfocar el presupuesto exclusivamente en mujeres </a:t>
            </a:r>
            <a:r>
              <a:rPr lang="en-US" sz="15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maximiza</a:t>
            </a:r>
            <a:r>
              <a:rPr lang="en-US" sz="15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la eficiencia de la pauta y entregó un </a:t>
            </a:r>
            <a:r>
              <a:rPr b="1" lang="en-US" sz="15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CTR</a:t>
            </a:r>
            <a:r>
              <a:rPr lang="en-US" sz="15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competitivo del </a:t>
            </a:r>
            <a:r>
              <a:rPr b="1" lang="en-US" sz="1500">
                <a:solidFill>
                  <a:srgbClr val="A855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2.70%</a:t>
            </a:r>
            <a:r>
              <a:rPr lang="en-US" sz="15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validando que las mujeres en etapa productiva (particularmente madres  entre </a:t>
            </a:r>
            <a:r>
              <a:rPr b="1" lang="en-US" sz="15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25 y 44 años</a:t>
            </a:r>
            <a:r>
              <a:rPr lang="en-US" sz="15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 son el </a:t>
            </a:r>
            <a:r>
              <a:rPr b="1" lang="en-US" sz="15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Buyer Persona</a:t>
            </a:r>
            <a:r>
              <a:rPr lang="en-US" sz="15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decisor en la categoría.  </a:t>
            </a:r>
            <a:endParaRPr sz="1500">
              <a:solidFill>
                <a:srgbClr val="3C40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C40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500"/>
              <a:buFont typeface="Plus Jakarta Sans"/>
              <a:buChar char="●"/>
            </a:pPr>
            <a:r>
              <a:rPr b="1" lang="en-US" sz="15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Mensaje Clave Ganador</a:t>
            </a:r>
            <a:r>
              <a:rPr lang="en-US" sz="15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 El ángulo creativo orientado a la practicidad y prevención de complicaciones digestivas (</a:t>
            </a:r>
            <a:r>
              <a:rPr b="1" lang="en-US" sz="15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Anuncio #3 BUMPER</a:t>
            </a:r>
            <a:r>
              <a:rPr lang="en-US" sz="15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 superó ampliamente a las piezas orientadas únicamente a situaciones de viaje o imprevistos.</a:t>
            </a:r>
            <a:endParaRPr sz="1500">
              <a:solidFill>
                <a:srgbClr val="3C40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C40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C40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image.png" id="155" name="Google Shape;15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91275" y="789731"/>
            <a:ext cx="533400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"/>
          <p:cNvSpPr txBox="1"/>
          <p:nvPr/>
        </p:nvSpPr>
        <p:spPr>
          <a:xfrm>
            <a:off x="974912" y="773206"/>
            <a:ext cx="1095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3C4043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INSIGHTS</a:t>
            </a:r>
            <a:endParaRPr sz="3000">
              <a:solidFill>
                <a:srgbClr val="3C4043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736787" y="710173"/>
            <a:ext cx="76200" cy="6096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2" name="Google Shape;16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09450" y="4944000"/>
            <a:ext cx="1470825" cy="147082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/>
        </p:nvSpPr>
        <p:spPr>
          <a:xfrm>
            <a:off x="812975" y="1727100"/>
            <a:ext cx="99783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C40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RECOMENDACIONES</a:t>
            </a:r>
            <a:endParaRPr sz="1500">
              <a:solidFill>
                <a:srgbClr val="3C40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C40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C40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Plus Jakarta Sans"/>
              <a:buChar char="●"/>
            </a:pPr>
            <a:r>
              <a:rPr lang="en-US" sz="15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Continuar priorizando creativos de 6 segundos (</a:t>
            </a:r>
            <a:r>
              <a:rPr b="1" lang="en-US" sz="1500">
                <a:solidFill>
                  <a:srgbClr val="A855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Bumpers</a:t>
            </a:r>
            <a:r>
              <a:rPr lang="en-US" sz="15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 para awareness masivo, apoyados por </a:t>
            </a:r>
            <a:r>
              <a:rPr b="1" lang="en-US" sz="15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YouTube Shorts</a:t>
            </a:r>
            <a:r>
              <a:rPr lang="en-US" sz="15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(15s) para engagement intermedio. </a:t>
            </a:r>
            <a:endParaRPr sz="1500">
              <a:solidFill>
                <a:srgbClr val="3C40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C40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C40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500"/>
              <a:buFont typeface="Plus Jakarta Sans"/>
              <a:buChar char="●"/>
            </a:pPr>
            <a:r>
              <a:rPr lang="en-US" sz="15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Mantener el foco de segmentación en el público femenino de </a:t>
            </a:r>
            <a:r>
              <a:rPr b="1" lang="en-US" sz="1500">
                <a:solidFill>
                  <a:srgbClr val="A855F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25 a 44 años</a:t>
            </a:r>
            <a:r>
              <a:rPr lang="en-US" sz="15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(madres o cuidadoras en todas las etapas), escalando creativos con mensajes </a:t>
            </a:r>
            <a:r>
              <a:rPr lang="en-US" sz="15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prácticos</a:t>
            </a:r>
            <a:r>
              <a:rPr lang="en-US" sz="1500">
                <a:solidFill>
                  <a:srgbClr val="3C404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dirigidos a solucionar de manera inmediata los problemas digestivos o estomacales. </a:t>
            </a:r>
            <a:endParaRPr b="1" sz="1500">
              <a:solidFill>
                <a:srgbClr val="3C40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C40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412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0"/>
          <p:cNvSpPr txBox="1"/>
          <p:nvPr/>
        </p:nvSpPr>
        <p:spPr>
          <a:xfrm>
            <a:off x="584700" y="5326988"/>
            <a:ext cx="10483800" cy="4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11">
                <a:solidFill>
                  <a:srgbClr val="A855F7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ALMENDRA MARKETING</a:t>
            </a:r>
            <a:endParaRPr sz="1332">
              <a:solidFill>
                <a:srgbClr val="A855F7"/>
              </a:solidFill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11187660" y="5322638"/>
            <a:ext cx="45600" cy="426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3475" lIns="86975" spcFirstLastPara="1" rIns="86975" wrap="square" tIns="434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