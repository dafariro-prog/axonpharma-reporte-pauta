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Plus Jakarta Sans ExtraBold"/>
      <p:bold r:id="rId14"/>
      <p:boldItalic r:id="rId15"/>
    </p:embeddedFont>
    <p:embeddedFont>
      <p:font typeface="Plus Jakarta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ExtraBold-boldItalic.fntdata"/><Relationship Id="rId14" Type="http://schemas.openxmlformats.org/officeDocument/2006/relationships/font" Target="fonts/PlusJakartaSansExtraBold-bold.fntdata"/><Relationship Id="rId17" Type="http://schemas.openxmlformats.org/officeDocument/2006/relationships/font" Target="fonts/PlusJakartaSans-bold.fntdata"/><Relationship Id="rId16" Type="http://schemas.openxmlformats.org/officeDocument/2006/relationships/font" Target="fonts/PlusJakarta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-boldItalic.fntdata"/><Relationship Id="rId6" Type="http://schemas.openxmlformats.org/officeDocument/2006/relationships/slide" Target="slides/slide1.xml"/><Relationship Id="rId18" Type="http://schemas.openxmlformats.org/officeDocument/2006/relationships/font" Target="fonts/PlusJakarta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1f9a6662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f1f9a6662c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1f9a6662c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f1f9a6662c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1f9a6662c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f1f9a6662c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1f9a6662c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f1f9a6662c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1f9a6662c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f1f9a6662c_0_1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1f9a6662c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f1f9a6662c_0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41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601" y="6042500"/>
            <a:ext cx="762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23601" y="2829375"/>
            <a:ext cx="49914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REPORTE FINAL </a:t>
            </a:r>
            <a:br>
              <a:rPr lang="en-US" sz="450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</a:br>
            <a:r>
              <a:rPr lang="en-US" sz="450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MARIMER </a:t>
            </a:r>
            <a:endParaRPr sz="4500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JULIO 2026</a:t>
            </a:r>
            <a:endParaRPr/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061617" y="5922066"/>
            <a:ext cx="2638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1">
                <a:solidFill>
                  <a:srgbClr val="A855F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ALMENDRA MARKETING</a:t>
            </a:r>
            <a:endParaRPr sz="332">
              <a:solidFill>
                <a:srgbClr val="A855F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974900" y="1737700"/>
            <a:ext cx="6265800" cy="3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Cliente: AXON PHARMA</a:t>
            </a:r>
            <a:endParaRPr sz="20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Campaña: Merimer </a:t>
            </a:r>
            <a:br>
              <a:rPr lang="en-US" sz="20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20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Periodo: 01  Jul - 30 Jul</a:t>
            </a:r>
            <a:endParaRPr sz="20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 principal: Maximizar la visibilidad de la marca en Colombia, y divulgar los beneficios específicos del producto.</a:t>
            </a:r>
            <a:endParaRPr sz="20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000">
              <a:solidFill>
                <a:srgbClr val="C27BA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000">
              <a:solidFill>
                <a:srgbClr val="C27BA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000">
              <a:solidFill>
                <a:srgbClr val="C27BA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A855F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Impresiones Contratadas: 506,489</a:t>
            </a:r>
            <a:endParaRPr sz="2000">
              <a:solidFill>
                <a:srgbClr val="A855F7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974912" y="773206"/>
            <a:ext cx="1095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C4043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REPORTE MENSUAL DE BRANDING: YOUTUBE ADS</a:t>
            </a:r>
            <a:endParaRPr sz="3000">
              <a:solidFill>
                <a:srgbClr val="3C4043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736787" y="710173"/>
            <a:ext cx="76200" cy="6096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8396000" y="4941900"/>
            <a:ext cx="1059000" cy="857100"/>
          </a:xfrm>
          <a:prstGeom prst="roundRect">
            <a:avLst>
              <a:gd fmla="val 16667" name="adj"/>
            </a:avLst>
          </a:prstGeom>
          <a:solidFill>
            <a:srgbClr val="81E9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9202841" y="4525788"/>
            <a:ext cx="2155800" cy="1601100"/>
          </a:xfrm>
          <a:prstGeom prst="roundRect">
            <a:avLst>
              <a:gd fmla="val 16667" name="adj"/>
            </a:avLst>
          </a:prstGeom>
          <a:solidFill>
            <a:srgbClr val="2811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5249" y="3517198"/>
            <a:ext cx="2495833" cy="160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844643" y="2155730"/>
            <a:ext cx="3025500" cy="1311000"/>
          </a:xfrm>
          <a:prstGeom prst="roundRect">
            <a:avLst>
              <a:gd fmla="val 16667" name="adj"/>
            </a:avLst>
          </a:prstGeom>
          <a:solidFill>
            <a:srgbClr val="F9FAF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974912" y="773206"/>
            <a:ext cx="1095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C4043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RESULTADOS OVERVIEW</a:t>
            </a:r>
            <a:endParaRPr sz="3000">
              <a:solidFill>
                <a:srgbClr val="3C4043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736787" y="710173"/>
            <a:ext cx="76200" cy="6096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948216" y="2272124"/>
            <a:ext cx="281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INVERSIÓN</a:t>
            </a:r>
            <a:endParaRPr sz="100"/>
          </a:p>
        </p:txBody>
      </p:sp>
      <p:sp>
        <p:nvSpPr>
          <p:cNvPr id="106" name="Google Shape;106;p15"/>
          <p:cNvSpPr txBox="1"/>
          <p:nvPr/>
        </p:nvSpPr>
        <p:spPr>
          <a:xfrm>
            <a:off x="1065693" y="2694949"/>
            <a:ext cx="267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$8,691,344.04</a:t>
            </a:r>
            <a:endParaRPr b="1" sz="2000">
              <a:solidFill>
                <a:srgbClr val="A855F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3400" y="891121"/>
            <a:ext cx="696950" cy="69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/>
          <p:nvPr/>
        </p:nvSpPr>
        <p:spPr>
          <a:xfrm>
            <a:off x="4537143" y="2193348"/>
            <a:ext cx="3025500" cy="1311000"/>
          </a:xfrm>
          <a:prstGeom prst="roundRect">
            <a:avLst>
              <a:gd fmla="val 16667" name="adj"/>
            </a:avLst>
          </a:prstGeom>
          <a:solidFill>
            <a:srgbClr val="F9FAF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4640716" y="2309742"/>
            <a:ext cx="281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IMPRESIONES</a:t>
            </a:r>
            <a:endParaRPr sz="100"/>
          </a:p>
        </p:txBody>
      </p:sp>
      <p:sp>
        <p:nvSpPr>
          <p:cNvPr id="110" name="Google Shape;110;p15"/>
          <p:cNvSpPr txBox="1"/>
          <p:nvPr/>
        </p:nvSpPr>
        <p:spPr>
          <a:xfrm>
            <a:off x="4758193" y="2732567"/>
            <a:ext cx="267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580,458</a:t>
            </a:r>
            <a:endParaRPr b="1" sz="2000">
              <a:solidFill>
                <a:srgbClr val="A855F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8254856" y="2171051"/>
            <a:ext cx="3025500" cy="1311000"/>
          </a:xfrm>
          <a:prstGeom prst="roundRect">
            <a:avLst>
              <a:gd fmla="val 16667" name="adj"/>
            </a:avLst>
          </a:prstGeom>
          <a:solidFill>
            <a:srgbClr val="F9FAF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8358429" y="2287445"/>
            <a:ext cx="281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INTERACCIONES</a:t>
            </a:r>
            <a:endParaRPr sz="100"/>
          </a:p>
        </p:txBody>
      </p:sp>
      <p:sp>
        <p:nvSpPr>
          <p:cNvPr id="113" name="Google Shape;113;p15"/>
          <p:cNvSpPr txBox="1"/>
          <p:nvPr/>
        </p:nvSpPr>
        <p:spPr>
          <a:xfrm>
            <a:off x="8475906" y="2710270"/>
            <a:ext cx="267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14,580</a:t>
            </a:r>
            <a:endParaRPr b="1" sz="2000">
              <a:solidFill>
                <a:srgbClr val="A855F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880143" y="4211730"/>
            <a:ext cx="3025500" cy="1311000"/>
          </a:xfrm>
          <a:prstGeom prst="roundRect">
            <a:avLst>
              <a:gd fmla="val 16667" name="adj"/>
            </a:avLst>
          </a:prstGeom>
          <a:solidFill>
            <a:srgbClr val="F9FAF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983716" y="4328124"/>
            <a:ext cx="281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CTR</a:t>
            </a:r>
            <a:endParaRPr sz="100"/>
          </a:p>
        </p:txBody>
      </p:sp>
      <p:sp>
        <p:nvSpPr>
          <p:cNvPr id="116" name="Google Shape;116;p15"/>
          <p:cNvSpPr txBox="1"/>
          <p:nvPr/>
        </p:nvSpPr>
        <p:spPr>
          <a:xfrm>
            <a:off x="1101193" y="4750949"/>
            <a:ext cx="267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2,51%</a:t>
            </a:r>
            <a:endParaRPr b="1" sz="2000">
              <a:solidFill>
                <a:srgbClr val="A855F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4572643" y="4249348"/>
            <a:ext cx="3025500" cy="1311000"/>
          </a:xfrm>
          <a:prstGeom prst="roundRect">
            <a:avLst>
              <a:gd fmla="val 16667" name="adj"/>
            </a:avLst>
          </a:prstGeom>
          <a:solidFill>
            <a:srgbClr val="F9FAF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4676216" y="4365742"/>
            <a:ext cx="281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IMPR. VISIBLES</a:t>
            </a:r>
            <a:endParaRPr sz="100"/>
          </a:p>
        </p:txBody>
      </p:sp>
      <p:sp>
        <p:nvSpPr>
          <p:cNvPr id="119" name="Google Shape;119;p15"/>
          <p:cNvSpPr txBox="1"/>
          <p:nvPr/>
        </p:nvSpPr>
        <p:spPr>
          <a:xfrm>
            <a:off x="4793693" y="4788567"/>
            <a:ext cx="267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341,673</a:t>
            </a:r>
            <a:endParaRPr b="1" sz="2000">
              <a:solidFill>
                <a:srgbClr val="A855F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8290356" y="4227051"/>
            <a:ext cx="3025500" cy="1311000"/>
          </a:xfrm>
          <a:prstGeom prst="roundRect">
            <a:avLst>
              <a:gd fmla="val 16667" name="adj"/>
            </a:avLst>
          </a:prstGeom>
          <a:solidFill>
            <a:srgbClr val="F9FAF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8393929" y="4343445"/>
            <a:ext cx="281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% ENTREGA</a:t>
            </a:r>
            <a:endParaRPr sz="100"/>
          </a:p>
        </p:txBody>
      </p:sp>
      <p:sp>
        <p:nvSpPr>
          <p:cNvPr id="122" name="Google Shape;122;p15"/>
          <p:cNvSpPr txBox="1"/>
          <p:nvPr/>
        </p:nvSpPr>
        <p:spPr>
          <a:xfrm>
            <a:off x="8511406" y="4766270"/>
            <a:ext cx="267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114,6%</a:t>
            </a:r>
            <a:endParaRPr b="1" sz="2000">
              <a:solidFill>
                <a:srgbClr val="A855F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/>
        </p:nvSpPr>
        <p:spPr>
          <a:xfrm>
            <a:off x="974912" y="773206"/>
            <a:ext cx="1095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C4043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DETALLE</a:t>
            </a:r>
            <a:endParaRPr sz="3000">
              <a:solidFill>
                <a:srgbClr val="3C4043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736787" y="710173"/>
            <a:ext cx="76200" cy="6096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3400" y="891121"/>
            <a:ext cx="696950" cy="69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1113575" y="1990050"/>
            <a:ext cx="3141900" cy="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 esta campaña se omitió el formato de TV porque ofrece el menor CTR:</a:t>
            </a:r>
            <a:endParaRPr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254" y="3510500"/>
            <a:ext cx="3019425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8350" y="2835043"/>
            <a:ext cx="2090880" cy="69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98825" y="3061600"/>
            <a:ext cx="6117400" cy="328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184450" y="3321850"/>
            <a:ext cx="898575" cy="137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899277" y="1633725"/>
            <a:ext cx="3050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Resultados por dispositivo</a:t>
            </a:r>
            <a:endParaRPr sz="1200">
              <a:solidFill>
                <a:srgbClr val="A855F7"/>
              </a:solidFill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5360199" y="1619125"/>
            <a:ext cx="3896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Resultados por género y edad</a:t>
            </a:r>
            <a:endParaRPr sz="1200">
              <a:solidFill>
                <a:srgbClr val="A855F7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/>
        </p:nvSpPr>
        <p:spPr>
          <a:xfrm>
            <a:off x="974912" y="773206"/>
            <a:ext cx="1095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C4043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PERFORMANCE  CREATIVO</a:t>
            </a:r>
            <a:endParaRPr sz="3000">
              <a:solidFill>
                <a:srgbClr val="3C4043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736787" y="710173"/>
            <a:ext cx="76200" cy="6096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1637950" y="5112875"/>
            <a:ext cx="3276000" cy="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</a:t>
            </a:r>
            <a:r>
              <a:rPr lang="en-US">
                <a:solidFill>
                  <a:srgbClr val="A855F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Bumper  # 1</a:t>
            </a:r>
            <a:r>
              <a:rPr lang="en-US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, fue el anuncio con mayor entrega de impresiones</a:t>
            </a:r>
            <a:r>
              <a:rPr lang="en-US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con una participación del  </a:t>
            </a:r>
            <a:r>
              <a:rPr lang="en-US">
                <a:solidFill>
                  <a:srgbClr val="A855F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34.1%</a:t>
            </a:r>
            <a:r>
              <a:rPr lang="en-US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sobre el total de la campaña.</a:t>
            </a:r>
            <a:endParaRPr sz="2000">
              <a:solidFill>
                <a:srgbClr val="C084FC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pic>
        <p:nvPicPr>
          <p:cNvPr id="144" name="Google Shape;144;p17"/>
          <p:cNvPicPr preferRelativeResize="0"/>
          <p:nvPr/>
        </p:nvPicPr>
        <p:blipFill rotWithShape="1">
          <a:blip r:embed="rId3">
            <a:alphaModFix/>
          </a:blip>
          <a:srcRect b="6921" l="0" r="0" t="3777"/>
          <a:stretch/>
        </p:blipFill>
        <p:spPr>
          <a:xfrm>
            <a:off x="6976951" y="133050"/>
            <a:ext cx="4949450" cy="659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83400" y="891121"/>
            <a:ext cx="696950" cy="69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643" y="1739373"/>
            <a:ext cx="5311550" cy="2988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/>
          <p:nvPr/>
        </p:nvSpPr>
        <p:spPr>
          <a:xfrm>
            <a:off x="974912" y="773206"/>
            <a:ext cx="1095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C4043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INSIGHTS</a:t>
            </a:r>
            <a:endParaRPr sz="3000">
              <a:solidFill>
                <a:srgbClr val="3C4043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736787" y="710173"/>
            <a:ext cx="76200" cy="6096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812975" y="1727100"/>
            <a:ext cx="99783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Plus Jakarta Sans"/>
              <a:buChar char="●"/>
            </a:pPr>
            <a:r>
              <a:rPr b="1"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Eficiencia en la Entrega y Sobrecumplimiento: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 pauta fue altamente eficiente, entregando más de</a:t>
            </a:r>
            <a:r>
              <a:rPr b="1"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73,000 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impresiones adicionales sobre lo contratado </a:t>
            </a:r>
            <a:r>
              <a:rPr b="1"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</a:t>
            </a:r>
            <a:r>
              <a:rPr b="1" lang="en-US" sz="15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+14.6%</a:t>
            </a:r>
            <a:r>
              <a:rPr b="1"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asegurando una sobreexposición positiva para la marca dentro del presupuesto asignado. </a:t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lus Jakarta Sans"/>
              <a:buChar char="●"/>
            </a:pPr>
            <a:r>
              <a:rPr b="1"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Efectividad de Formatos Cortos (Bumpers de 6s): 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Los formatos Bumper capturaron más del</a:t>
            </a:r>
            <a:r>
              <a:rPr b="1"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lang="en-US" sz="15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64%</a:t>
            </a:r>
            <a:r>
              <a:rPr b="1"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 total de las impresiones combinadas. Esto demuestra que mensajes breves y directos generan la mayor retención de marca con menor tasa de abandono en plataformas de video. </a:t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lus Jakarta Sans"/>
              <a:buChar char="●"/>
            </a:pPr>
            <a:r>
              <a:rPr b="1"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Optimización de Pantallas (Mobile First):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 exclusión de dispositivos TV demostró ser una decisión acertada para mantener un CTR favorable del </a:t>
            </a:r>
            <a:r>
              <a:rPr b="1" lang="en-US" sz="15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2.51%</a:t>
            </a:r>
            <a:r>
              <a:rPr b="1"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ya que el tráfico móvil facilita la interacción del usuario de manera  directa e individual.</a:t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91275" y="789731"/>
            <a:ext cx="533400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 txBox="1"/>
          <p:nvPr/>
        </p:nvSpPr>
        <p:spPr>
          <a:xfrm>
            <a:off x="974912" y="773206"/>
            <a:ext cx="1095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C4043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INSIGHTS</a:t>
            </a:r>
            <a:endParaRPr sz="3000">
              <a:solidFill>
                <a:srgbClr val="3C4043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736787" y="710173"/>
            <a:ext cx="76200" cy="6096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09450" y="4944000"/>
            <a:ext cx="1470825" cy="147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812975" y="1727100"/>
            <a:ext cx="99783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RECOMENDACIONES</a:t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lus Jakarta Sans"/>
              <a:buChar char="●"/>
            </a:pP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Continuar priorizando creativos de 6 segundos (</a:t>
            </a:r>
            <a:r>
              <a:rPr b="1" lang="en-US" sz="15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Bumpers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para awareness masivo, apoyados por </a:t>
            </a:r>
            <a:r>
              <a:rPr b="1"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YouTube Shorts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(15s) para engagement intermedio. </a:t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500"/>
              <a:buFont typeface="Plus Jakarta Sans"/>
              <a:buChar char="●"/>
            </a:pP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Mantener el foco de segmentación en el público joven-adulto de </a:t>
            </a:r>
            <a:r>
              <a:rPr b="1" lang="en-US" sz="15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25 a 44 años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(padres/madres y jóvenes activos), escalando creativos con mensajes diferenciados entre la línea Marimer Isotónico (adultos/deporte) y Marimer Baby (cuidado infantil). </a:t>
            </a:r>
            <a:endParaRPr b="1"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41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584700" y="5326988"/>
            <a:ext cx="104838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11">
                <a:solidFill>
                  <a:srgbClr val="A855F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ALMENDRA MARKETING</a:t>
            </a:r>
            <a:endParaRPr sz="1332">
              <a:solidFill>
                <a:srgbClr val="A855F7"/>
              </a:solidFill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11187660" y="5322638"/>
            <a:ext cx="45600" cy="426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